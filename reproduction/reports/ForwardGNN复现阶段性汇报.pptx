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 文 复 现 · 阶 段 性 汇 报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研究什么 · SF 怎么工作 · 复现了什么 · 结果说明什么 · 如何进入联邦学习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10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 Learning of Graph Neural Networks · ICLR 2024 · Park et al.（Meta AI 等）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5230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准确率配置与论文对齐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70832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1.00 → 1.02×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70832" y="5230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显存随深度变化很小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84464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18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84464" y="5230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行为断言通过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当前范围：CitationFull-Cora_ML + GCN（联邦学习改造尚未开始）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汇报日期 2026-10 · 实验数据截至 2026-09-23 · 复现材料 reproduction/reports/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研究背景与问题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BP（反向传播）训练 GNN 的约束（论文 §1）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存储激活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80160" y="22219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前向激活需保存供反向使用，显存开销随深度增加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679192"/>
            <a:ext cx="5669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非局部更新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80160" y="3090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参数更新依赖下游全部神经元的误差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5669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11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反向顺序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80160" y="39593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先前向、后反向，更新只能最后发生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371600"/>
            <a:ext cx="5193792" cy="2377440"/>
          </a:xfrm>
          <a:prstGeom prst="roundRect">
            <a:avLst>
              <a:gd name="adj" fmla="val 2308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5544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与本课题的联系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956816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课题最终目标是在联邦学习客户端上训练 GNN。客户端算力与显存有限，希望降低本地训练的显存压力——ForwardGNN 的逐层局部训练方式是一条候选路径。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本阶段先验证单机 SF-GNN；联邦学习改造尚未开始。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3931920"/>
            <a:ext cx="5193792" cy="2148840"/>
          </a:xfrm>
          <a:prstGeom prst="roundRect">
            <a:avLst>
              <a:gd name="adj" fmla="val 2553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114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论文核心主张（§4.2）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451713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的准确率与 BP 相当或更优，且显存随网络加深增长较平缓（BP 增长更明显）。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6656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本次复现要回答的问题：这一主张在 CoraML + GCN 上是否成立？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2 / 18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PAPER · METHODS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论文提出了什么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834640"/>
                <a:gridCol w="3502152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训练方式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是否跨层反传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BP（反向传播）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原始图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整个网络统一训练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240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FF（Forward-Forward）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正图 + 负图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每层区分正负样本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SF（Single-Forward）★ 核心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一个正增强图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每层使用局部分类损失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Top-Down SF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正增强图 + 上层信号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局部训练并加入上层信息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673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论文的方法发展路线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57200" y="41605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6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834640" y="4590288"/>
            <a:ext cx="587959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22599" y="41605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14039" y="416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Forward-Forward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00039" y="4590288"/>
            <a:ext cx="587959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387998" y="41605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6479438" y="4233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Single-Forward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79438" y="46268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核心方法 · 本次复现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65438" y="4590288"/>
            <a:ext cx="587959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353398" y="41605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44838" y="416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Top-Down Single-Forward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129077" y="4645152"/>
            <a:ext cx="0" cy="429768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03197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避免跨层反向传播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94476" y="4645152"/>
            <a:ext cx="0" cy="429768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68596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避免正图 / 负图两次前向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59875" y="4645152"/>
            <a:ext cx="0" cy="429768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33995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弥补逐层训练缺少上层信息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读法：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是论文在 FF 基础上继续改进得到的核心方法（论文 §3.1–§3.3）。FF / SF / Top-Down 均为逐层局部学习：每层内部仍有局部求导更新，“否”指不跨层端到端反传。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3 / 18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METHOD · BP VS SF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 与 SF 的区别：训练组织方式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BP：端到端反向传播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45352" y="1417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7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SF：逐层单前向（论文 §3.2）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46304" cy="146304"/>
          </a:xfrm>
          <a:prstGeom prst="ellipse">
            <a:avLst/>
          </a:prstGeom>
          <a:solidFill>
            <a:srgbClr val="C240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整个多层网络一次前向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3949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07792"/>
            <a:ext cx="146304" cy="146304"/>
          </a:xfrm>
          <a:prstGeom prst="ellipse">
            <a:avLst/>
          </a:prstGeom>
          <a:solidFill>
            <a:srgbClr val="C2402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1635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从最后一层向前跨层反传误差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639312"/>
            <a:ext cx="53949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03904"/>
            <a:ext cx="146304" cy="146304"/>
          </a:xfrm>
          <a:prstGeom prst="ellipse">
            <a:avLst/>
          </a:prstGeom>
          <a:solidFill>
            <a:srgbClr val="C2402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12464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统一更新所有层参数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535424"/>
            <a:ext cx="53949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700016"/>
            <a:ext cx="146304" cy="146304"/>
          </a:xfrm>
          <a:prstGeom prst="ellipse">
            <a:avLst/>
          </a:prstGeom>
          <a:solidFill>
            <a:srgbClr val="C2402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08576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训练期间通常需要保留多层中间激活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45352" y="2011680"/>
            <a:ext cx="146304" cy="146304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192024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逐层局部训练：每层用本层输入计算局部损失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2743200"/>
            <a:ext cx="53949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2907792"/>
            <a:ext cx="146304" cy="146304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81635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每层内部仍执行局部 loss.backward()，但只更新本层参数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45352" y="3639312"/>
            <a:ext cx="53949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3803904"/>
            <a:ext cx="146304" cy="146304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3712464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detach 后交给下一层——阻断跨层反传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45352" y="4535424"/>
            <a:ext cx="53949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4700016"/>
            <a:ext cx="146304" cy="146304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608576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推理：各层类别概率求和后取最大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733288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措辞边界：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每一层内部仍然计算梯度（局部 loss.backward()）；它避免的是跨所有层的端到端误差反传——不说“完全不用反向传播”。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4 / 18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METHOD · WHY SINGLE-FORWARD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的核心改进：从两次前向变成一次前向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FF 方法：正负两次前向（论文 §3.1）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7452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构造正图：训练节点连向正确类别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2450592"/>
            <a:ext cx="0" cy="201168"/>
          </a:xfrm>
          <a:prstGeom prst="line">
            <a:avLst/>
          </a:prstGeom>
          <a:noFill/>
          <a:ln w="19050">
            <a:solidFill>
              <a:srgbClr val="C2402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6517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9748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构造负图：连向错误类别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3273552"/>
            <a:ext cx="0" cy="201168"/>
          </a:xfrm>
          <a:prstGeom prst="line">
            <a:avLst/>
          </a:prstGeom>
          <a:noFill/>
          <a:ln w="19050">
            <a:solidFill>
              <a:srgbClr val="C2402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4747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52044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正图前向一次 + 负图前向一次——两次前向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54680" y="4096512"/>
            <a:ext cx="0" cy="201168"/>
          </a:xfrm>
          <a:prstGeom prst="line">
            <a:avLst/>
          </a:prstGeom>
          <a:noFill/>
          <a:ln w="19050">
            <a:solidFill>
              <a:srgbClr val="C2402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2976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34340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比较正 / 负表示的匹配程度 → 更新当前层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36792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方法：正增强图上一次前向（论文 §3.2 · Eq.6）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36792" y="1828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F1F8"/>
          </a:solidFill>
          <a:ln w="9525">
            <a:solidFill>
              <a:srgbClr val="B8CF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87452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构造正增强图：训练节点连向对应类别虚拟节点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4272" y="2450592"/>
            <a:ext cx="0" cy="201168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36792" y="265176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69748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一次前向：同时得到节点表示 + 类别代表表示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34272" y="3273552"/>
            <a:ext cx="0" cy="201168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36792" y="347472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F1F8"/>
          </a:solidFill>
          <a:ln w="9525">
            <a:solidFill>
              <a:srgbClr val="B8CF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52044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节点表示 · 类别代表表示 → 点积得到各类别分数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34272" y="4096512"/>
            <a:ext cx="0" cy="201168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36792" y="42976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8F1F8"/>
          </a:solidFill>
          <a:ln w="9525">
            <a:solidFill>
              <a:srgbClr val="B8CF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34340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对正确类别计算交叉熵 → 更新当前层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5193792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285232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关键点：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不是简单地删除负样本——类别虚拟节点在同一次前向中充当“类别代表”，与真实节点的表示直接比较，因此不再需要额外构造负输入图。（论文 §3.2 · 公式 (6) · 算法 2）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5 / 18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METHOD ·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的逐层训练流程（以两层为例）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7218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增强图　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原图加入 7 个虚拟类别节点；训练节点按标签连到对应类别节点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2130552"/>
            <a:ext cx="0" cy="201168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8658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训练第 1 层　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计算当前层表示 → 局部损失 → 只更新第 1 层参数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3044952"/>
            <a:ext cx="0" cy="201168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324612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0098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 + detach　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恢复第 1 层最佳验证状态；输出 detach——保留数值，切断与第 1 层参数的计算图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3959352"/>
            <a:ext cx="0" cy="201168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416052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1538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训练第 2 层　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用第 1 层固定输出（detach，梯度不再回流）→ 局部损失 → 只更新第 2 层参数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4873752"/>
            <a:ext cx="0" cy="201168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507492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2978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　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各层类别概率相加，取概率和最大的类别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detach 的作用：第 2 层的局部损失无法再更新第 1 层参数——“逐层局部学习”由此实现。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1371600"/>
            <a:ext cx="5742432" cy="5029200"/>
          </a:xfrm>
          <a:prstGeom prst="roundRect">
            <a:avLst>
              <a:gd name="adj" fmla="val 1091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630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从虚拟类别节点到局部监督（§3.1 → §3.2）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2029968"/>
            <a:ext cx="219456" cy="21945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1847088"/>
            <a:ext cx="219456" cy="219456"/>
          </a:xfrm>
          <a:prstGeom prst="ellipse">
            <a:avLst/>
          </a:prstGeom>
          <a:solidFill>
            <a:srgbClr val="C240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2157984"/>
            <a:ext cx="219456" cy="219456"/>
          </a:xfrm>
          <a:prstGeom prst="ellipse">
            <a:avLst/>
          </a:prstGeom>
          <a:solidFill>
            <a:srgbClr val="7C9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1883664"/>
            <a:ext cx="219456" cy="21945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2249424"/>
            <a:ext cx="219456" cy="219456"/>
          </a:xfrm>
          <a:prstGeom prst="ellipse">
            <a:avLst/>
          </a:prstGeom>
          <a:solidFill>
            <a:srgbClr val="C240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1938528"/>
            <a:ext cx="219456" cy="219456"/>
          </a:xfrm>
          <a:prstGeom prst="ellipse">
            <a:avLst/>
          </a:prstGeom>
          <a:solidFill>
            <a:srgbClr val="7C9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0" y="2304288"/>
            <a:ext cx="219456" cy="219456"/>
          </a:xfrm>
          <a:prstGeom prst="ellipse">
            <a:avLst/>
          </a:prstGeom>
          <a:solidFill>
            <a:srgbClr val="C240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2578608"/>
            <a:ext cx="219456" cy="219456"/>
          </a:xfrm>
          <a:prstGeom prst="ellipse">
            <a:avLst/>
          </a:prstGeom>
          <a:solidFill>
            <a:srgbClr val="7C9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2615184"/>
            <a:ext cx="219456" cy="21945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647688" y="1956816"/>
            <a:ext cx="594360" cy="18288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2048" y="1956816"/>
            <a:ext cx="640080" cy="310896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882128" y="1993392"/>
            <a:ext cx="594360" cy="27432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76488" y="1993392"/>
            <a:ext cx="640080" cy="36576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9116568" y="2048256"/>
            <a:ext cx="640080" cy="310896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56648" y="2048256"/>
            <a:ext cx="594360" cy="36576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2088" y="2688336"/>
            <a:ext cx="1325880" cy="36576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42048" y="1956816"/>
            <a:ext cx="320040" cy="73152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887968" y="2359152"/>
            <a:ext cx="228600" cy="365760"/>
          </a:xfrm>
          <a:prstGeom prst="line">
            <a:avLst/>
          </a:prstGeom>
          <a:noFill/>
          <a:ln w="12700">
            <a:solidFill>
              <a:srgbClr val="C9D4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2889504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C1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132320" y="2889504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C2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909560" y="2889504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C3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686800" y="2889504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C4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464040" y="2889504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6404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C5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0241280" y="2889504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4128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C6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1018520" y="2889504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01852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C7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 flipH="1">
            <a:off x="6629400" y="2249424"/>
            <a:ext cx="18288" cy="640080"/>
          </a:xfrm>
          <a:prstGeom prst="line">
            <a:avLst/>
          </a:prstGeom>
          <a:noFill/>
          <a:ln w="19050">
            <a:solidFill>
              <a:srgbClr val="C2402A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7562088" y="2798064"/>
            <a:ext cx="621792" cy="91440"/>
          </a:xfrm>
          <a:prstGeom prst="line">
            <a:avLst/>
          </a:prstGeom>
          <a:noFill/>
          <a:ln w="19050">
            <a:solidFill>
              <a:srgbClr val="C2402A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flipH="1">
            <a:off x="7406640" y="2468880"/>
            <a:ext cx="1709928" cy="420624"/>
          </a:xfrm>
          <a:prstGeom prst="line">
            <a:avLst/>
          </a:prstGeom>
          <a:noFill/>
          <a:ln w="19050">
            <a:solidFill>
              <a:srgbClr val="C2402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 flipH="1">
            <a:off x="6629400" y="2834640"/>
            <a:ext cx="2258568" cy="54864"/>
          </a:xfrm>
          <a:prstGeom prst="line">
            <a:avLst/>
          </a:prstGeom>
          <a:noFill/>
          <a:ln w="19050">
            <a:solidFill>
              <a:srgbClr val="C2402A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6217920" y="332841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圆点 = 节点，灰线 = 引用边；方块 = 虚拟类别节点。红虚线 = 仅训练节点按真实标签连到对应类别；验证 / 测试节点不连类别边——它们仍参与原图消息传递，但真实标签不参与类别边构造。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860536" y="3822192"/>
            <a:ext cx="0" cy="146304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400800" y="3986784"/>
            <a:ext cx="4919472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3986784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GNN 当前层 message passing：一次 Forward，同时得到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400800" y="44805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9525">
            <a:solidFill>
              <a:srgbClr val="B8CF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节点表示 h</a:t>
            </a:r>
            <a:pPr algn="ctr" indent="0" marL="0">
              <a:buNone/>
            </a:pPr>
            <a:r>
              <a:rPr lang="en-US" sz="1250" b="1" baseline="-40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8942832" y="44805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9525">
            <a:solidFill>
              <a:srgbClr val="B8CF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42832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类别代表 c</a:t>
            </a:r>
            <a:pPr algn="ctr" indent="0" marL="0">
              <a:buNone/>
            </a:pPr>
            <a:r>
              <a:rPr lang="en-US" sz="1250" b="1" baseline="-40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… c</a:t>
            </a:r>
            <a:pPr algn="ctr" indent="0" marL="0">
              <a:buNone/>
            </a:pPr>
            <a:r>
              <a:rPr lang="en-US" sz="1250" b="1" baseline="-40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8860536" y="4992624"/>
            <a:ext cx="0" cy="146304"/>
          </a:xfrm>
          <a:prstGeom prst="line">
            <a:avLst/>
          </a:prstGeom>
          <a:noFill/>
          <a:ln w="1905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400800" y="5157216"/>
            <a:ext cx="491947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8CF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5157216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点积打分 s</a:t>
            </a:r>
            <a:pPr algn="ctr" indent="0" marL="0">
              <a:buNone/>
            </a:pPr>
            <a:r>
              <a:rPr lang="en-US" sz="1250" b="1" baseline="-40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ik</a:t>
            </a:r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 h</a:t>
            </a:r>
            <a:pPr algn="ctr" indent="0" marL="0">
              <a:buNone/>
            </a:pPr>
            <a:r>
              <a:rPr lang="en-US" sz="1250" b="1" baseline="-40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</a:t>
            </a:r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c</a:t>
            </a:r>
            <a:pPr algn="ctr" indent="0" marL="0">
              <a:buNone/>
            </a:pPr>
            <a:r>
              <a:rPr lang="en-US" sz="1250" b="1" baseline="-40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</a:t>
            </a:r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/ τ  →  Softmax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400800" y="5650992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F7A3D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0" y="5650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正确类别 c</a:t>
            </a:r>
            <a:pPr algn="ctr" indent="0" marL="0">
              <a:buNone/>
            </a:pPr>
            <a:r>
              <a:rPr lang="en-US" sz="1150" b="1" baseline="-40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</a:t>
            </a:r>
            <a:pPr algn="ctr" indent="0" marL="0">
              <a:buNone/>
            </a:pPr>
            <a:r>
              <a:rPr lang="en-US" sz="1150" b="1" baseline="-40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Positive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8942832" y="5650992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240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42832" y="5650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其余类别 → Negative 对比项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6217920" y="607161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所有候选类别在同一次前向中产生，因此无需额外构造负输入图；“类别代表”是虚拟节点经图消息传递得到的表示——不是特征均值中心，也不是额外的分类器权重。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6 / 18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SCOPE &amp; PROTOCOL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实验范围与协议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复现范围（阶段 A）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CitationFull-Cora_ML（2,995 节点 / 2,879 特征 / 7 类）+ GCN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SF-GCN vs BP-GCN，1～4 层；16,316 条有向边记录 = 论文 Table 2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数据划分：作者官方发布的 5 组 split（非自生成）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代码：官方快照逐文件 SHA-256 校验，零修改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训练协议（论文附录 B ↔ 脚本 ↔ 代码 三方核对）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7200" y="4416552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隐藏维 128 · Adam lr=1e-3 / wd=5e-4 · epochs=1000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验证间隔 2 · 早停 patience=100（按验证次数计）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次运行 = 5 个官方 split（种子 10100…10112）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SF：温度 τ=1.0 · 虚拟节点边双向连接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422392" cy="155448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517904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训练预算注意：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 是全网最多 1000 次更新；SF 是每层最多 1000 次局部更新（每层独立早停）。“epochs 相同”不代表更新量或耗时相同。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3108960"/>
            <a:ext cx="5422392" cy="2011680"/>
          </a:xfrm>
          <a:prstGeom prst="roundRect">
            <a:avLst>
              <a:gd name="adj" fmla="val 2727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27355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对齐判据（看结果之前预先约定）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37960" y="367588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与论文均值差 ≤ 1.0 个百分点，且落在论文均值 ±2 标准差内 → “与论文一致”；1～3 pp 为“趋势一致”；&gt;3 pp 为“未对齐”。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4617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这是预先约定的验收标准，不是统计显著性检验。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次运行 = 5 个官方划分各跑一遍后取均值 ± 标准差；不是同一划分换 5 个种子。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7 / 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方法和数据检查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数据检查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数据维度与论文 Table 2 一致（2,995 / 2,879 / 7 类）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split 内部：训练、验证、测试三部分互斥，并覆盖全部节点；不同 split 之间不要求互斥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个划分文件 SHA-256 存档（split_manifest）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行为检查（18 / 18 通过，节选）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7200" y="4233672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增强图 = 2,995 + 7 个虚拟类别节点；虚拟边 3,832 = 2×训练节点数（双向）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类别边未使用验证 / 测试标签（针对虚拟类别边的检查）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logits = 节点表示与类别代表表示的点积 + 交叉熵（τ=1.0）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0" y="1463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18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309360" y="23957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静态源码检查 + 动态行为断言（源码行号 + 运行时证据）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5422392" cy="3017520"/>
          </a:xfrm>
          <a:prstGeom prst="roundRect">
            <a:avLst>
              <a:gd name="adj" fmla="val 1818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10896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层间参数隔离的直接证据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3529584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训练第 2 层时，第 1 层全部参数的 SHA-256 逐比特不变；传给下层的表示 requires_grad=False；两层优化器参数集互不相交。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说明：18 项检查使用最小测试配置（CoraML、split 0、2 层 GCN、每层 2 个 epoch），是机制检查，不是对全部配置的穷尽测试。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8 / 18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SCOPE · PAPER VS DONE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论文贡献与本次复现范围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066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论文中的内容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当前状态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SF 节点分类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已完成（CoraML + GCN）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 对照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1～4 层显存趋势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SAGE / GAT 骨干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1620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其他数据集（CiteSeer / PubMed / Amazon-Photo / GitHub）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1620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Top-Down 变体（Top-to-Input / Top-to-Loss）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1620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链接预测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1620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联邦学习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7B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不属于论文原始实验，尚未改造（课题下一步）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371600"/>
            <a:ext cx="3639312" cy="4434840"/>
          </a:xfrm>
          <a:prstGeom prst="roundRect">
            <a:avLst>
              <a:gd name="adj" fmla="val 1508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这一页帮助区分三个层次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2104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96528" y="199339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论文提出了什么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96528" y="2322576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 / FF / SF / Top-Down SF 与“显存随深度增长平缓”的主张（方法全貌页）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21040" y="3182112"/>
            <a:ext cx="3200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796528" y="32735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本次复现了什么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96528" y="3602736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CoraML + GCN 上 SF 与 BP 的 1～4 层对照：准确率 + 显存（后续结果页）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321040" y="4462272"/>
            <a:ext cx="3200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4572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796528" y="45537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下一步扩展什么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96528" y="4882896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补齐数据集 / 骨干 / 变体后，进入联邦学习改造（不属于论文实验）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9 / 18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RESULTS · ACCURACY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结果一：准确率——8 组配置与论文对齐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223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02920"/>
                <a:gridCol w="1691640"/>
                <a:gridCol w="169164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本次复现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论文 Table 3(e)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差异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判定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BP-GCN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31.72 ± 4.80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31.72 ± 4.8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 pp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一致*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BP-GCN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86.88 ± 0.98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86.84 ± 1.0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+0.04 pp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BP-GCN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88.71 ± 1.26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88.65 ± 1.4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+0.06 pp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BP-GCN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87.18 ± 1.88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86.61 ± 2.3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+0.57 pp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SF-GCN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87.51 ± 1.35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87.75 ± 1.4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−0.24 pp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SF-GCN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88.11 ± 1.22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87.95 ± 1.4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+0.16 pp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SF-GCN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88.28 ± 1.08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88.15 ± 1.5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+0.13 pp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SF-GCN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88.31 ± 1.12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88.48 ± 1.2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−0.17 pp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554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8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13816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配置与论文对齐（≤ 0.57 pp）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38160" y="2926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 与 BP 在 2～4 层总体接近（SF−BP）：L2 +1.23 pp、L3 −0.43 pp、L4 +1.13 pp——SF 在 L2、L4 略高，L3 略低。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 1 层约 32% 与论文一致，是模型结构所致，不是复现缺陷。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“一致*”指报告精度下均值和标准差与论文相同（31.72 ± 4.80）。以上均为报告精度下的均值比较，不构成统计显著性结论。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10 / 18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RESULTS ·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结果二：SF 显存随深度增长较平缓</a:t>
            </a:r>
            <a:endParaRPr lang="en-US" sz="3000" dirty="0"/>
          </a:p>
        </p:txBody>
      </p:sp>
      <p:pic>
        <p:nvPicPr>
          <p:cNvPr id="4" name="Image 0" descr="D:/创新实践/The-reproduction-of-forwardgnn/reproduction/reports/figure_memory_absol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309360" cy="37515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78040" y="1481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绝对峰值显存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178040" y="1874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BP：45.3 → 251.3 MiB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SF：347.8 → 353.0 MiB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178040" y="2788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77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相对自身 1 层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178040" y="318211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BP：1.00× → 5.55×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SF：1.00× → 1.02×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78040" y="4069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两种方法的倍数基准不同，相对倍数只用于比较各自随深度的增长，不能直接比较 SF 与 BP 的绝对显存大小。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49834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测量口径：独立进程中 torch.cuda.max_memory_allocated()，即 PyTorch 张量占用显存的峰值（含常驻输入），不是 GPU 总占用；为含 5 次运行的进程峰值。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80644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5897880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 SF 的绝对显存高于 BP，但随层数增加变化较小，支持其深度扩展趋势。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11 / 18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结果解释：为什么 SF 的显存增长较平缓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BP：保留跨层信息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 把整个多层计算图连接起来。为计算梯度，训练期间通常需要保留从前面各层到后面各层的中间激活；层数增加后，保留的跨层信息也随之增加。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本次测量中 BP 峰值从 45.3 MiB 增至 251.3 MiB；增量主要集中在 1→2 层，原因尚未验证，可能与实现、模型结构和 CUDA 内存分配有关。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SF：每层是局部训练单元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3952" y="2029968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当前层更新完成后，传给下一层的表示被 detach，不再携带前一层的梯度计算图；后面的层不需要保留贯穿所有层的反传路径。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 SF 峰值从 347.8 MiB 增至 353.0 MiB，随层数变化较小。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53492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以上是对实现机制的概括，不等于声称所有中间张量都会立即释放、或显存必然只与单层有关；实际峰值还受参数、优化器状态、输入图和 CUDA 内存分配器影响。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12 / 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CAVEATS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与论文的差异和限制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538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最重要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1417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 1～4 层中，SF 的绝对峰值显存均高于同层数 BP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783080" y="1801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已验证的是“SF 显存随深度增长较平缓”；不夸大为“SF 绝对显存更低”，也未验证更深层数或大图上的交叉点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83080" y="238658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测量口径不同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783080" y="277063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PyTorch 张量分配峰值（含常驻输入），非 GPU 总占用；论文口径未完全公开 → 正文报原始峰值与趋势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924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83080" y="33558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硬件不同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83080" y="3739896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RTX 4060 Laptop vs 论文 H100 → 只比较相对比例与趋势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42816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61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83080" y="43251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官方代码缺 4 个对比基线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470916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FF-SymBa / CaFo / PEPITA / ForwardGNN-SymBa 无官方实现——对应结果不在本次范围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212080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330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E2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83080" y="52943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项目边界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83080" y="567842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 LR（似然比）路线已于 2026-09-21 作废留档；本报告数字与 LR 无关。“无反向传播”= 避免端到端反传，不说“完全不用自动求导”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13 / 18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当前复现完成度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1F7A3D"/>
          </a:solidFill>
          <a:ln w="9525">
            <a:solidFill>
              <a:srgbClr val="1F7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36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9568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231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协议锁定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59152" y="146304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1F7A3D"/>
          </a:solidFill>
          <a:ln w="9525">
            <a:solidFill>
              <a:srgbClr val="1F7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536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9568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2231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代码通路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146304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1F7A3D"/>
          </a:solidFill>
          <a:ln w="9525">
            <a:solidFill>
              <a:srgbClr val="1F7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536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70832" y="19568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70832" y="2231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SF/BP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146304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1F7A3D"/>
          </a:solidFill>
          <a:ln w="9525">
            <a:solidFill>
              <a:srgbClr val="1F7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536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72784" y="19568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72784" y="2231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方法检查（SF）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5008" y="146304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1F7A3D"/>
          </a:solidFill>
          <a:ln w="9525">
            <a:solidFill>
              <a:srgbClr val="1F7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6448" y="1536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74736" y="19568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74736" y="2231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显存—深度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1536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76688" y="19568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76688" y="2231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论文主结果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7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初步复现成功（CoraML + GCN 核心子实验）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57200" y="3310128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官方代码 + 官方划分；环境、数据、超参数均有记录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组准确率与论文对齐；显存趋势与论文一致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项 SF 行为检查通过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37960" y="2880360"/>
            <a:ext cx="5193792" cy="2743200"/>
          </a:xfrm>
          <a:prstGeom prst="roundRect">
            <a:avLst>
              <a:gd name="adj" fmla="val 2000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3035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尚不能声称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34747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整篇论文尚未完整复现（其余数据集、SAGE/GAT、变体、链接预测未做）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“SF 绝对显存一定更低”——本次未验证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联邦学习改造尚未开始——不能声称联邦系统完成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53492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准确的汇报表述：“完成 ForwardGNN 在 CoraML + GCN 上的核心子实验复现，准确率按预先约定标准与论文对齐，显存结果支持 SF 随深度增长较平缓的趋势。”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14 / 18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·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下一步一：论文复现扩展计划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其余数据集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91840" y="14813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按同一协议运行 CiteSeer / PubMed / Amazon-Photo / GitHub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26680" y="148132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论文报告：GitHub 上 BP 390→469 MB、SF ≈62 MB——论文报告的待复现实验目标，不是本次已完成结果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32304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4203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其他骨干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 SAGE / GAT，检查不同消息传递结构下 SF 的准确率与显存趋势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26680" y="2560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命令模板不变，仅换模型名与 exp-setting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2102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97280" y="36393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方法变体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291840" y="363931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FF-LA / FF-VN / Top2Input / Top2Loss 逐项确认代码与论文映射后运行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26680" y="363931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对应论文 §3.1 / §3.3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90288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001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97280" y="471830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链接预测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471830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按汇报目标决定是否纳入完整复现范围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26680" y="471830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与老师确认优先级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原则：不必跑完整篇论文才开始联邦研究——建议先补一组有代表性的数据集 / 骨干对照，再与老师确认扩展范围。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15 / 18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·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下一步二：联邦学习改造计划（拟议）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17904"/>
            <a:ext cx="1901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客户端划分图数据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78608" y="1901952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61488" y="146304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1216" y="1517904"/>
            <a:ext cx="1901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客户端本地 SF-GNN 逐层训练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82896" y="1901952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65776" y="146304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5504" y="1517904"/>
            <a:ext cx="1901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上传同层模型参数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87184" y="1901952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70064" y="146304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479792" y="1517904"/>
            <a:ext cx="1901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服务器按层聚合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91472" y="1901952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74352" y="146304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1517904"/>
            <a:ext cx="1901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下发全局参数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拟议方案：同步逐层聚合——服务器确定当前层，各客户端在该层局部训练后按本地有标签节点数加权聚合；一层完成后进入下一层。这是拟研究方案，不是论文已验证算法。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联邦阶段首先要解决的问题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每个客户端如何划分节点和边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0" y="3749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跨客户端边如何处理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4622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5840" y="44622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虚拟类别节点在客户端本地生成，还是由服务器统一维护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44622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58000" y="44622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参数按层聚合还是全部参数一起聚合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17550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05840" y="51755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与联邦 BP 基线比较准确率、显存、时延和通信量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89788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971032"/>
            <a:ext cx="10817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提醒：单机复现结果不保证联邦化后仍然有效——联邦方案需从 2～3 个模拟客户端的“本地训练→上传→聚合→下发”验证开始。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16 / 18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附录：证据索引与复现方式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证据文件（reproduction/reports/）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protocol.md v1.1 —— 复现协议与对齐判据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reproduction_report.md —— 阶段性报告（本次内容来源）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method_checks.md —— SF 方法 18 项断言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split_manifest_cora_ml.json —— 划分审计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resource_summary.csv —— 8 组数值 + 论文对照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figure_memory_absolute.png / figure_memory_vs_depth.png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experiment_registry.md · CHANGELOG.md · environment.json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~/forwardgnn-run/results/ —— 原始 JSON 与训练日志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422392" cy="2194560"/>
          </a:xfrm>
          <a:prstGeom prst="roundRect">
            <a:avLst>
              <a:gd name="adj" fmla="val 2500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1790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完整复现命令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90195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训练、显存测量与汇总的完整命令（含全部参数）见 reproduction_report.md 第 12 节；实验登记见 experiment_registry.md。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注意：相同 --exp-setting 下已完成的运行会被跳过；重测需 --overwrite-result。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3749040"/>
            <a:ext cx="5422392" cy="2286000"/>
          </a:xfrm>
          <a:prstGeom prst="roundRect">
            <a:avLst>
              <a:gd name="adj" fmla="val 2400"/>
            </a:avLst>
          </a:prstGeom>
          <a:solidFill>
            <a:srgbClr val="EDF2F7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38953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归一化对比图（附录参考）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427939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“扣除常驻输入后约 20.6×”为近似辅助分析：扣除估算输入后 BP 1 层分母仅约 10.5 MiB，会放大比例且对估算误差敏感——不作为严格显存对齐结论。论文 Figure 2a 同风格图（横轴为相对倍数）仅比较各自增长。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5394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完整软件版本：Python 3.8.20 · PyTorch 1.13.1 · PyG 2.2.0 · numpy 1.19.2 · scipy 1.6.2 · sklearn 1.2.1 · matplotlib 3.6.3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必需环境变量 CUBLAS_WORKSPACE_CONFIG=:4096:8（官方代码确定性训练的运行前提，详见 environment.json）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ForwardGNN 论文复现 · 17 / 18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 2026-10 · 数据截至 2026-09-23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谢谢聆听 · 欢迎提问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希望与老师确认的事项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3063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后续论文复现范围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0" y="3063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优先补哪些数据集 / 骨干？链接预测是否纳入？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49624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050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9593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联邦阶段的图划分方式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395935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客户端节点 / 边如何分配，跨客户端边如何处理？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745736"/>
            <a:ext cx="11274552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9011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0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485546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“无反向传播”的实现边界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485546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课题是否允许“层内局部反向传播”作为 SF 联邦化的实现形式？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复现材料：reproduction/reports/　·　原始结果：~/forwardgnn-run/results/　·　数据截至 2026-09-23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ForwardGNN 论文复现阶段性汇报</dc:title>
  <dc:subject>PptxGenJS Presentation</dc:subject>
  <dc:creator>复现小组</dc:creator>
  <cp:lastModifiedBy>复现小组</cp:lastModifiedBy>
  <cp:revision>1</cp:revision>
  <dcterms:created xsi:type="dcterms:W3CDTF">2026-10-08T04:56:33Z</dcterms:created>
  <dcterms:modified xsi:type="dcterms:W3CDTF">2026-10-08T04:56:33Z</dcterms:modified>
</cp:coreProperties>
</file>