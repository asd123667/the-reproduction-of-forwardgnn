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读图：左面板进程口径、右面板修正口径（扣 35MiB 常驻输入，近似论文 Table 4 范围）。SF 四点重叠即结论。BP 论文口径 0.83→12.58MB ≈15×，我们修正口径 20.6×，量级一致。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400" kern="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 文 复 现 · 阶 段 性 汇 报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CoraML + GCN 上的 SF/BP 对照与显存—深度扩展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57200" y="34930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 Learning of Graph Neural Networks · ICLR 2024 · Park et al.（Meta AI 等）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4343400"/>
            <a:ext cx="112745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6177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8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5440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结果配置与论文 Table 3(e) 对齐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70832" y="46177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1.01×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5440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 峰值显存 1–4 层恒定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84464" y="46177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18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84464" y="5440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 方法行为断言通过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汇报日期 2026-09 · 复现仓库 reproduction/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论文背景与核心主张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BP 的三大约束（论文 §1）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E2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25880" y="19202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存储激活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22860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前向激活需保存供反向使用，显存开销大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50749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85292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E2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25880" y="28529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非局部更新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321868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参数更新依赖下游全部神经元的误差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21608"/>
            <a:ext cx="50749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85616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E2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37856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反向顺序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41513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先前向、后反向，更新只能最后发生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的 SF 方法（§3.2）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309360" y="190195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1956816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增强图 G′：加 7 个虚拟类别节点（按标签连边）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06840" y="2468880"/>
            <a:ext cx="0" cy="274320"/>
          </a:xfrm>
          <a:prstGeom prst="line">
            <a:avLst/>
          </a:prstGeom>
          <a:noFill/>
          <a:ln w="19050">
            <a:solidFill>
              <a:srgbClr val="1F77B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309360" y="274320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798064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GNN 层前向 → 节点嵌入 + 类别代表嵌入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006840" y="3310128"/>
            <a:ext cx="0" cy="274320"/>
          </a:xfrm>
          <a:prstGeom prst="line">
            <a:avLst/>
          </a:prstGeom>
          <a:noFill/>
          <a:ln w="19050">
            <a:solidFill>
              <a:srgbClr val="1F77B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309360" y="358444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363931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点积得分 → 局部交叉熵 → 只更新本层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9006840" y="4151376"/>
            <a:ext cx="0" cy="274320"/>
          </a:xfrm>
          <a:prstGeom prst="line">
            <a:avLst/>
          </a:prstGeom>
          <a:noFill/>
          <a:ln w="19050">
            <a:solidFill>
              <a:srgbClr val="1F77B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309360" y="4425696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44805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 detach 传入下一层；推理用各层概率融合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48640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596128"/>
            <a:ext cx="10817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论文核心主张（§4.2, p.7）：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“SF 精度与 BP 相当或更优，且显存不随层数增长（BP 最多增长 18×）”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2 / 12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SCOPE &amp; PROTOCOL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复现范围与协议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复现对象（阶段 A）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 Table 3(e) / 4(e)：CoraML · GCN · BP 与 SF 两行 · 1–4 层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数据：CitationFull-Cora_ML — 2,995 节点 / 2,879 特征 / 7 类 / 16,316 边（= 论文 Table 2）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划分：作者官方发布的 5 组划分（非自生成）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代码：facebookresearch/forwardgnn 官方快照，逐文件 SHA-256 校验，零修改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343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训练协议（论文附录 B ↔ 脚本 ↔ 代码 三方核对）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5303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隐藏维 128 · Adam lr=1e-3 / wd=5e-4 · epochs=1000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验证间隔 2 · 早停 patience=100（按验证次数计）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次运行 = 5 个官方划分（种子 10100…10112）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SF：τ=1.0 · 虚拟边双向 · FF 阈值 θ=2.0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417320"/>
            <a:ext cx="5422392" cy="3108960"/>
          </a:xfrm>
          <a:prstGeom prst="roundRect">
            <a:avLst>
              <a:gd name="adj" fmla="val 1765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对齐判据（看结果之前预先约定）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21031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|复现均值 − 论文均值| ≤ 1.0 个百分点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且落在论文均值 ±2σ 内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判定“与论文一致”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3520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1–3 pp：趋势一致但未完全对齐　＞3 pp：未对齐（先排查协议）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4800600"/>
            <a:ext cx="5422392" cy="1554480"/>
          </a:xfrm>
          <a:prstGeom prst="roundRect">
            <a:avLst>
              <a:gd name="adj" fmla="val 3529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49834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结论纪律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判据先于结果固定，不得事后放宽；曲线好看、没有报错都不能替代验收证据。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3 / 12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环境与工程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子系统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514600" y="14630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WSL2 Ubuntu 26.04 · GPU：RTX 4060 Laptop 8 GB（sm_89，PTX JIT 实测可用）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450592"/>
            <a:ext cx="78181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3347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14600" y="2633472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Python 3.8.20 · PyTorch 1.13.1（CUDA 11.7）· PyG 2.2.0 —— 均出自论文附录 B 与官方安装脚本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621024"/>
            <a:ext cx="78181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0390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必需环境变量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514600" y="3803904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CUBLAS_WORKSPACE_CONFIG=:4096:8 —— 官方代码启用确定性算法，缺省直接 RuntimeError（实测确认）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791456"/>
            <a:ext cx="78181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974336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目录隔离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14600" y="4974336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官方代码只读快照（逐文件 SHA-256）＋ 独立运行副本 ~/forwardgnn-run —— 数据与结果不污染快照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49640" y="1463040"/>
            <a:ext cx="3182112" cy="4572000"/>
          </a:xfrm>
          <a:prstGeom prst="roundRect">
            <a:avLst>
              <a:gd name="adj" fmla="val 1724"/>
            </a:avLst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8778240" y="1645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实测环境（environment.json）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778240" y="2057400"/>
            <a:ext cx="2788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    3.8.20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PyTorch    1.13.1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cuBLAS     11.7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PyG        2.2.0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     1.19.2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scipy      1.6.2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    1.2.1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torch-sparse 0.6.17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torch-scatter 2.1.1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GPU   RTX 4060 8GB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驱动  560.94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5989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numpy/scipy/sklearn：论文未规定版本，为官方脚本安装时 conda 解析结果，实测记录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4 / 12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方法可信度：数据审计 + 18 项断言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数据审计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维度与论文 Table 2 一致：2,995 / 2,879 / 7 类 / 16,316 边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组划分两两互斥、并集 = 全部 2,995 节点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比例精确 64% / 16% / 20%（1,916 / 480 / 599）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个划分文件 SHA-256 存档（split_manifest）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 行为断言（节选，共 18 项）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增强图 = 2,995 + 7 个虚拟类别节点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虚拟边 3,832 = 2×1,916（双向）；验证/测试节点 0 泄漏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logits = 节点嵌入·类别代表嵌入（误差 1.5e-08）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09360" y="1554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18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309360" y="2606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 行为断言全部通过（源码行号 + 运行时行为双重证据）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3246120"/>
            <a:ext cx="5422392" cy="2697480"/>
          </a:xfrm>
          <a:prstGeom prst="roundRect">
            <a:avLst>
              <a:gd name="adj" fmla="val 2034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层间隔离的直接证据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38862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层训练期间，第 1 层全部参数的 SHA-256 逐比特不变；传入第 2 层的表示 requires_grad=False；两层优化器参数集互不相交。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“避免端到端反向传播的逐层局部学习”有机制级证据。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035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证据：reproduction/reports/method_checks.md · checks/check_sf_method.py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5 / 12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RESULTS · ACCURACY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结果一：准确率——8 组配置全部对齐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1691640"/>
                <a:gridCol w="1691640"/>
                <a:gridCol w="105156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本次复现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论文 Table 3(e)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判定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BP-GCN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31.72 ± 4.80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31.72 ± 4.8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 pp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7A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一致（逐位）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BP-GCN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86.88 ± 0.98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86.84 ± 1.0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+0.04 pp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7A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BP-GCN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88.71 ± 1.26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88.65 ± 1.4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+0.06 pp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7A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BP-GCN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87.18 ± 1.88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86.61 ± 2.3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+0.57 pp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7A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SF-GCN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87.51 ± 1.35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87.75 ± 1.4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−0.24 pp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7A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SF-GCN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88.11 ± 1.22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87.95 ± 1.4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+0.16 pp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7A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SF-GCN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88.28 ± 1.08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88.15 ± 1.5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+0.13 pp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7A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SF-GCN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88.31 ± 1.12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88.48 ± 1.2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−0.17 pp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7A3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6459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8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138160" y="2606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配置与论文对齐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38160" y="30632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最大差 0.57 个百分点；BP 1 层与论文逐位一致（31.72±4.80）——同一确定性流水线的强证据。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38160" y="4251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方法间排序与论文一致：2–4 层时 SF 高于 BP 约 1.1 pp（论文 +1.11 pp）。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判据（看结果前约定）：|Δ| ≤ 1.0 pp 且在论文 ±2σ 内 → “与论文一致”。原始 JSON：~/forwardgnn-run/results/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6 / 12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RESULTS ·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结果二：论文核心主张——SF 显存不随深度增长</a:t>
            </a:r>
            <a:endParaRPr lang="en-US" sz="3000" dirty="0"/>
          </a:p>
        </p:txBody>
      </p:sp>
      <p:pic>
        <p:nvPicPr>
          <p:cNvPr id="4" name="Image 0" descr="D:/创新实践/The-reproduction-of-forwardgnn/reproduction/reports/figure_memory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74552" cy="45098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9893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77B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峰值显存 1–4 层恒定 1.01–1.02×（347.8→353.0 MiB）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70832" y="59893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BP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增长至 5.55×；修正口径 20.6×（论文 GCN 口径 ≈15×）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284464" y="59893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进程峰值含 ~35 MiB 常驻输入 → 只比比例与趋势，不比绝对值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7 / 12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CAVEATS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与论文的差异与诚实声明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E2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71600" y="1572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测量口径不同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进程峰值含 ~35 MiB 常驻输入；4060 vs 论文 H100 —— 只比较相对比例与趋势，不比绝对值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112745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883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E2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71600" y="270662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BP 增量集中在 1→2 层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12724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推测与确定性算法的反向实现及分配器行为有关；“BP 增长、SF 恒定”的定性结论不受影响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712464"/>
            <a:ext cx="112745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8221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E2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371600" y="384048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官方代码缺 4 个对比基线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426110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FF-SymBa / CaFo / PEPITA / ForwardGNN-SymBa 无官方实现 —— Table 3/5 的对应行未复现（需引入第三方实现）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745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95604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E2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371600" y="4974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措辞边界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准确表述：“避免端到端反向传播的逐层局部学习”；不说“完全不用反向传播”（每层内部仍有局部 loss.backward()）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8 / 12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PROGRESS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进度总览与下一步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737360" cy="1234440"/>
          </a:xfrm>
          <a:prstGeom prst="roundRect">
            <a:avLst>
              <a:gd name="adj" fmla="val 4444"/>
            </a:avLst>
          </a:prstGeom>
          <a:solidFill>
            <a:srgbClr val="1F7A3D"/>
          </a:solidFill>
          <a:ln w="9525">
            <a:solidFill>
              <a:srgbClr val="1F7A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276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" y="20848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37744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协议锁定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359152" y="1554480"/>
            <a:ext cx="1737360" cy="1234440"/>
          </a:xfrm>
          <a:prstGeom prst="roundRect">
            <a:avLst>
              <a:gd name="adj" fmla="val 4444"/>
            </a:avLst>
          </a:prstGeom>
          <a:solidFill>
            <a:srgbClr val="1F7A3D"/>
          </a:solidFill>
          <a:ln w="9525">
            <a:solidFill>
              <a:srgbClr val="1F7A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6276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68880" y="20848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68880" y="237744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代码通路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61104" y="1554480"/>
            <a:ext cx="1737360" cy="1234440"/>
          </a:xfrm>
          <a:prstGeom prst="roundRect">
            <a:avLst>
              <a:gd name="adj" fmla="val 4444"/>
            </a:avLst>
          </a:prstGeom>
          <a:solidFill>
            <a:srgbClr val="1F7A3D"/>
          </a:solidFill>
          <a:ln w="9525">
            <a:solidFill>
              <a:srgbClr val="1F7A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52544" y="16276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370832" y="20848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70832" y="237744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 SF/BP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63056" y="1554480"/>
            <a:ext cx="1737360" cy="1234440"/>
          </a:xfrm>
          <a:prstGeom prst="roundRect">
            <a:avLst>
              <a:gd name="adj" fmla="val 4444"/>
            </a:avLst>
          </a:prstGeom>
          <a:solidFill>
            <a:srgbClr val="1F7A3D"/>
          </a:solidFill>
          <a:ln w="9525">
            <a:solidFill>
              <a:srgbClr val="1F7A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6276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0848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72784" y="237744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方法检查（SF）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65008" y="1554480"/>
            <a:ext cx="1737360" cy="1234440"/>
          </a:xfrm>
          <a:prstGeom prst="roundRect">
            <a:avLst>
              <a:gd name="adj" fmla="val 4444"/>
            </a:avLst>
          </a:prstGeom>
          <a:solidFill>
            <a:srgbClr val="1F7A3D"/>
          </a:solidFill>
          <a:ln w="9525">
            <a:solidFill>
              <a:srgbClr val="1F7A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56448" y="16276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174736" y="20848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74736" y="237744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显存—深度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66960" y="1554480"/>
            <a:ext cx="1737360" cy="1234440"/>
          </a:xfrm>
          <a:prstGeom prst="roundRect">
            <a:avLst>
              <a:gd name="adj" fmla="val 4444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0" y="16276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076688" y="20848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076688" y="237744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论文主结果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已完成（✓）与待做（—）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3520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下一步（步骤 8 · 闸门 A4）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57200" y="39776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109728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数据集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486400" y="39776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 显存优势最直观的例子：论文中 BP 390→469 MB，SF 恒定 62 MB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4690872"/>
            <a:ext cx="112745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764024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1097280" y="476402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SAGE / GAT 骨干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486400" y="4764024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命令模板不变，仅换 --model 与 exp-setting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5477256"/>
            <a:ext cx="11274552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555040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097280" y="555040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FF-LA / FF-VN / TopDown 变体 + 链接预测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486400" y="555040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对应论文 §3.1 / §3.3 / §3.4 与 Table 1/5/6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9 / 12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总结：可以声称 / 不能声称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A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可以声称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8/8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377440" y="212140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配置准确率与论文对齐（最大差 0.57 pp）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1.01×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377440" y="31729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 显存 1–4 层恒定——核心主张复现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18/18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377440" y="42245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SF 方法行为断言通过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720840" y="1463040"/>
            <a:ext cx="5010912" cy="3977640"/>
          </a:xfrm>
          <a:prstGeom prst="roundRect">
            <a:avLst>
              <a:gd name="adj" fmla="val 1379"/>
            </a:avLst>
          </a:prstGeom>
          <a:solidFill>
            <a:srgbClr val="EDF2F7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不能声称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49440" y="21945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已完整复现整篇论文（其余 4 数据集、SAGE/GAT、FF 与 TopDown 变体、链接预测未做）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“SF 显存绝对值更小”——CoraML 上 SF 绝对值高于 BP 小层数场景（论文自身亦如此）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“完全不用反向传播”——准确说法：避免端到端反向传播的逐层局部学习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任何联邦学习阶段的结论（阶段 C 未开始）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5577840"/>
            <a:ext cx="11274552" cy="777240"/>
          </a:xfrm>
          <a:prstGeom prst="roundRect">
            <a:avLst>
              <a:gd name="adj" fmla="val 7059"/>
            </a:avLst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687568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全程官方代码（零修改、逐文件校验）+ 官方数据划分 · 每个数字可追溯至原始 JSON，可一键复跑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10 / 12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0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备份：可复现命令与证据索引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6126480" cy="4480560"/>
          </a:xfrm>
          <a:prstGeom prst="roundRect">
            <a:avLst>
              <a:gd name="adj" fmla="val 1224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正式训练命令（GPU，5 个官方划分）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5669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CUBLAS_WORKSPACE_CONFIG=:4096:8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train_backprop.py --task node-class \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--model GNN-GCN --dataset CitationFull-Cora_ML \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--num-layers 2 --num-hidden 128 --num-runs 5 \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--seed 100 --epochs 1000 --val-every 2 \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--patience 100 --lr 0.001 --gpu 0 \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--exp-setting paper-bp-coraML-L2-v1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train_forward.py --task node-class \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--model GNN_SingleForward-GCN --dataset CitationFull-Cora_ML \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（其余参数同上，另加：--append-label none \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--aug-edge-direction bidirection --temperature 1.0）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--exp-setting paper-sf-coraML-L2-v1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90372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证据索引（reproduction/reports/）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03720" y="201168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protocol.md v1.1 —— 复现协议与对齐判据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method_checks.md —— SF 方法 18 项断言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split_manifest_cora_ml.json —— 划分审计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resource_summary.csv —— 8 组数值 + 论文对照列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figure_memory_vs_depth.png —— 论文同款对比图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experiment_registry.md —— E01–E04 实验登记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CHANGELOG.md —— 全部决策与变更记录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~/forwardgnn-run/results/ —— 原始 JSON 与完整日志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62872" y="64739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 论文复现 · 11 / 12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2026-09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谢谢聆听 · 欢迎提问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566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复现材料：reproduction/reports/　·　原始结果：~/forwardgnn-run/results/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ForwardGNN（ICLR 2024）复现 · 报告与数据截至 2026-09-23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ForwardGNN 论文复现阶段性汇报</dc:title>
  <dc:subject>PptxGenJS Presentation</dc:subject>
  <dc:creator>复现小组</dc:creator>
  <cp:lastModifiedBy>复现小组</cp:lastModifiedBy>
  <cp:revision>1</cp:revision>
  <dcterms:created xsi:type="dcterms:W3CDTF">2026-09-24T02:37:17Z</dcterms:created>
  <dcterms:modified xsi:type="dcterms:W3CDTF">2026-09-24T02:37:17Z</dcterms:modified>
</cp:coreProperties>
</file>